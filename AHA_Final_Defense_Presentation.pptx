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43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Hybrid Aggregation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8DFF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Parameter Server  ↔  Ring AllReduce  |  Runtime Switching via Telemetry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576072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2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3 — Final Presentation &amp; Demonstration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2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and Distributed Computing  ·  BSCS-13D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92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Moiz  ·  Aytesam Suhail  ·  Hassan Aamir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572000"/>
            <a:ext cx="2743200" cy="1737360"/>
          </a:xfrm>
          <a:prstGeom prst="rect">
            <a:avLst/>
          </a:prstGeom>
          <a:solidFill>
            <a:srgbClr val="1C7293">
              <a:alpha val="50000"/>
            </a:srgbClr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7160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371600" y="5486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Run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0"/>
            <a:ext cx="2743200" cy="1737360"/>
          </a:xfrm>
          <a:prstGeom prst="rect">
            <a:avLst/>
          </a:prstGeom>
          <a:solidFill>
            <a:srgbClr val="1C7293">
              <a:alpha val="50000"/>
            </a:srgbClr>
          </a:solidFill>
          <a:ln w="2540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+81.8%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72000" y="5486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gain @ N=32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0" y="4572000"/>
            <a:ext cx="2743200" cy="1737360"/>
          </a:xfrm>
          <a:prstGeom prst="rect">
            <a:avLst/>
          </a:prstGeom>
          <a:solidFill>
            <a:srgbClr val="1C7293">
              <a:alpha val="50000"/>
            </a:srgbClr>
          </a:solidFill>
          <a:ln w="254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0" y="4663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→ 32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7772400" y="5486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Swept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Software  ·  Rigorous Evaluation  ·  C-6 Novelty Justified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Agenda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356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234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Recap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17556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architecture, hypothesis, and gap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496312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7008" y="2587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07008" y="310896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workloads, fault schedule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49624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41422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07008" y="39410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Results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07008" y="44622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PS vs Fixed RA — Exp 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202936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5202936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549554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7008" y="529437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 Analysis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07008" y="581558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→ 32 workers · Amdahl model — Exp 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1143000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1143000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0" y="143560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50608" y="1234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Fault Injection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50608" y="1755648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Straggler, crash, bandwidth — Exp 3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400800" y="2496312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00800" y="2496312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27889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150608" y="258775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Mixed Network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150608" y="3108960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across conditions — Exp 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400800" y="3849624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00800" y="3849624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0" y="41422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150608" y="39410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 Analysis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150608" y="4462272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H &amp; threshold sweep — Exp 5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00800" y="5202936"/>
            <a:ext cx="557784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00800" y="5202936"/>
            <a:ext cx="640080" cy="117043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0" y="549554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150608" y="529437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C-6 Novelty &amp; Close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150608" y="581558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· trade-offs · future work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Recap: What We Built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1247120" cy="960120"/>
          </a:xfrm>
          <a:prstGeom prst="rect">
            <a:avLst/>
          </a:prstGeom>
          <a:solidFill>
            <a:srgbClr val="1C7293">
              <a:alpha val="65000"/>
            </a:srgbClr>
          </a:solidFill>
          <a:ln w="254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10972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H1: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telemetry-driven hybrid policy reduces time-to-target-accuracy by ≥15% over fixed PS and fixed RA across mixed network conditions.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137160" cy="822960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2494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T1  Workers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61518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workers run forward/backward pass and emit per-step telemetry (latency, gradient bytes, packet loss) to the AHA bus.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30352" y="3035808"/>
            <a:ext cx="0" cy="237744"/>
          </a:xfrm>
          <a:prstGeom prst="line">
            <a:avLst/>
          </a:prstGeom>
          <a:noFill/>
          <a:ln w="12700">
            <a:solidFill>
              <a:srgbClr val="2A9D2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3273552"/>
            <a:ext cx="137160" cy="8229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3310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T2  AHA Controller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6758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Python daemon — reads telemetry every 10 steps, applies threshold + hysteresis policy, broadcasts mode token to all workers.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30352" y="4096512"/>
            <a:ext cx="0" cy="237744"/>
          </a:xfrm>
          <a:prstGeom prst="line">
            <a:avLst/>
          </a:prstGeom>
          <a:noFill/>
          <a:ln w="12700">
            <a:solidFill>
              <a:srgbClr val="02C39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4334256"/>
            <a:ext cx="137160" cy="8229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43708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T3  Aggregation (PS | RA)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73659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PS: sharded gRPC push/pull with τ-BSP (τ=2)  ·  RA: directed ring scatter-reduce + all-gather, O(2(N-1)/N)×G bytes per worker.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30352" y="5157216"/>
            <a:ext cx="0" cy="237744"/>
          </a:xfrm>
          <a:prstGeom prst="line">
            <a:avLst/>
          </a:prstGeom>
          <a:noFill/>
          <a:ln w="12700">
            <a:solidFill>
              <a:srgbClr val="E8A83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5394960"/>
            <a:ext cx="137160" cy="8229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4315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T4  Model Store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" y="579729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checkpoints written before every mode switch — ensures consistency boundary and enables post-hoc replay.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0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Throughput · p95 latency · Scalability efficiency · Fault resilience · Staleness violation rate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 Setup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3949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52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51790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Multiprocessing simulation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Docker-isolated processes · Fixed random seeds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50592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53949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505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287121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PS (gRPC push/pull, τ-BSP)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 (directed ring, TCP)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model · optimizer · LR schedule · batch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803904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803904"/>
            <a:ext cx="53949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858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Scale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422452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8 · 16 · 32 workers (strong + weak scaling)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5157216"/>
            <a:ext cx="5394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5157216"/>
            <a:ext cx="539496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Gradient Size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" y="557784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 – 50 MB (fp32 tensors)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1097280"/>
            <a:ext cx="5394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5394960" cy="3474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1521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Worker Crash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151790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k killed mid-training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removes from ring, continues N-1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2450592"/>
            <a:ext cx="5394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2450592"/>
            <a:ext cx="5394960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37960" y="25054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🐢  Straggler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37960" y="287121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 delayed +150 ms (steps 30–60)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ring stalls; AHA detects via step_var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0" y="3803904"/>
            <a:ext cx="5394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3803904"/>
            <a:ext cx="539496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37960" y="3858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📡  Bandwidth Throttle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37960" y="422452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BW throttled to 10%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congested WAN conditions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0" y="5157216"/>
            <a:ext cx="539496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0" y="5157216"/>
            <a:ext cx="53949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37960" y="5212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 Packet Loss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37960" y="557784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packet loss injected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 overhead + gradient checksums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1: Baseline Comparison — Stable Network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2776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9118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N=8 workers  ·  10 GbE  ·  0.5 ms base latency  ·  100 training steps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8503920" cy="5074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06840" y="1085088"/>
            <a:ext cx="3017520" cy="1554479"/>
          </a:xfrm>
          <a:prstGeom prst="rect">
            <a:avLst/>
          </a:prstGeom>
          <a:solidFill>
            <a:srgbClr val="F4F8FB"/>
          </a:solidFill>
          <a:ln w="2540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006840" y="1085088"/>
            <a:ext cx="3017520" cy="365760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98280" y="115214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098280" y="15422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3,848 s/s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098280" y="20096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 over best baseline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151.8 ms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9006840" y="2959608"/>
            <a:ext cx="3017520" cy="1554479"/>
          </a:xfrm>
          <a:prstGeom prst="rect">
            <a:avLst/>
          </a:prstGeom>
          <a:solidFill>
            <a:srgbClr val="F4F8FB"/>
          </a:solidFill>
          <a:ln w="2540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006840" y="2959608"/>
            <a:ext cx="3017520" cy="36576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098280" y="302666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PS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098280" y="34168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3,682 s/s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098280" y="38841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low latency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74.3 ms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9006840" y="4834128"/>
            <a:ext cx="3017520" cy="1554479"/>
          </a:xfrm>
          <a:prstGeom prst="rect">
            <a:avLst/>
          </a:prstGeom>
          <a:solidFill>
            <a:srgbClr val="F4F8FB"/>
          </a:solidFill>
          <a:ln w="254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006840" y="4846320"/>
            <a:ext cx="3017520" cy="3657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098280" y="48889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RA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098280" y="529132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72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997 s/s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098280" y="57586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barrier overhead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= 361.7 ms</a:t>
            </a: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AHA's adaptive mode selection yields +4.5% throughput. Both AHA and PS far outperform RA on stable networks (RA ring barrier serialises steps).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2: Scalability — 4 to 32 Workers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finding: AHA achieves 8,319 samples/sec at N=32 — 81.8% better than Fixed PS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777240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417320"/>
            <a:ext cx="37490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229600" y="1417320"/>
            <a:ext cx="374904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753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Throughput (samples/sec)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75320" y="19385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4108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4692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652760" y="193852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229600" y="2331720"/>
            <a:ext cx="3749040" cy="914400"/>
          </a:xfrm>
          <a:prstGeom prst="rect">
            <a:avLst/>
          </a:prstGeom>
          <a:solidFill>
            <a:srgbClr val="F4F8FB"/>
          </a:solidFill>
          <a:ln w="63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7532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4108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64692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1,377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65276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2,330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41080" y="2880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229600" y="3337560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275320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641080" y="3566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4,553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646920" y="35661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1,088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652760" y="3566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3,542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41080" y="3886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-22.2%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229600" y="4343400"/>
            <a:ext cx="3749040" cy="914400"/>
          </a:xfrm>
          <a:prstGeom prst="rect">
            <a:avLst/>
          </a:prstGeom>
          <a:solidFill>
            <a:srgbClr val="F4F8FB"/>
          </a:solidFill>
          <a:ln w="63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75320" y="4572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864108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4,502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9646920" y="45720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849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0652760" y="4572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4,500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641080" y="4892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≈0%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229600" y="5349240"/>
            <a:ext cx="37490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F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275320" y="55778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8641080" y="5577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4,575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646920" y="55778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652760" y="5577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8,319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41080" y="5897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+81.8%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8229600" y="6400800"/>
            <a:ext cx="3749040" cy="347472"/>
          </a:xfrm>
          <a:prstGeom prst="rect">
            <a:avLst/>
          </a:prstGeom>
          <a:solidFill>
            <a:srgbClr val="2A9D2A">
              <a:alpha val="80000"/>
            </a:srgbClr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8275320" y="64373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reduces effective serial fraction f → 0.05 vs PS f = 0.08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3: Fault Injection Evaluation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0: straggler +150 ms (steps 30–60)  ·  Worker 1: crash at step 50  ·  N=8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804672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463040"/>
            <a:ext cx="3474720" cy="1508760"/>
          </a:xfrm>
          <a:prstGeom prst="rect">
            <a:avLst/>
          </a:prstGeom>
          <a:solidFill>
            <a:srgbClr val="F4F8FB"/>
          </a:solidFill>
          <a:ln w="254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503920" y="1463040"/>
            <a:ext cx="347472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595360" y="152704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Fixed RA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595360" y="19385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stalls on straggler barrier.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breaks ring completely.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995 s/s (−73% vs stable).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03920" y="3154680"/>
            <a:ext cx="3474720" cy="1508760"/>
          </a:xfrm>
          <a:prstGeom prst="rect">
            <a:avLst/>
          </a:prstGeom>
          <a:solidFill>
            <a:srgbClr val="F4F8FB"/>
          </a:solidFill>
          <a:ln w="2540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03920" y="3154680"/>
            <a:ext cx="3474720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595360" y="32186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△  Fixed PS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595360" y="363016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τ-BSP absorbs straggler via bounded staleness.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remaps shard keys.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3680 s/s (−0.05% vs stable).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503920" y="4846320"/>
            <a:ext cx="3474720" cy="1508760"/>
          </a:xfrm>
          <a:prstGeom prst="rect">
            <a:avLst/>
          </a:prstGeom>
          <a:solidFill>
            <a:srgbClr val="F4F8FB"/>
          </a:solidFill>
          <a:ln w="2540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503920" y="4846320"/>
            <a:ext cx="3474720" cy="384048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595360" y="49103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AHA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95360" y="532180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step_var spike → controller switches to PS.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triggers ring rebuild + PS fallback.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3402 s/s (−8% vs stable).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57200" y="55595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time after crash (steps to regain pre-fault throughput):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57200" y="5989320"/>
            <a:ext cx="132080" cy="43891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72160" y="602589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640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PS: 22 steps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179588" y="5989320"/>
            <a:ext cx="132080" cy="43891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509520" y="60167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RA: 38 steps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962937" y="5989320"/>
            <a:ext cx="132080" cy="438912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277897" y="60441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A9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AHA: 12 steps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recovers 3× faster than RA. Under faults, AHA maintains 92.5% of its fault-free throughput versus RA's 27.1%.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4: Cross-Condition Comparative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160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080" y="1145033"/>
            <a:ext cx="10657840" cy="402816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793253"/>
              </p:ext>
            </p:extLst>
          </p:nvPr>
        </p:nvGraphicFramePr>
        <p:xfrm>
          <a:off x="457200" y="5201920"/>
          <a:ext cx="1124712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40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AHA (ours)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AHA vs 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LAN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3,882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1,061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3,736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−3.8%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Congested WAN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1,742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761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1,674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Loss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4,493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1,152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3,481 s/s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−22.5%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tracks close to PS across all conditions. The N=32 result (Exp 2) is where AHA's adaptive switching produces its largest benefit.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 5: Sensitivity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9264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Hysteresis H (1–12)  ·  Latency threshold (10–120 ms)  ·  N=8, stable network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417320"/>
            <a:ext cx="82296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463040"/>
            <a:ext cx="3291840" cy="1115568"/>
          </a:xfrm>
          <a:prstGeom prst="rect">
            <a:avLst/>
          </a:prstGeom>
          <a:solidFill>
            <a:srgbClr val="F4F8FB"/>
          </a:solidFill>
          <a:ln w="2540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0" y="1463040"/>
            <a:ext cx="137160" cy="1115568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887968" y="152704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Switches Observed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887968" y="19019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stable network, the AHA controller correctly held its mode — no spurious switches. Hysteresis worked as designed to prevent oscillation.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86800" y="2761488"/>
            <a:ext cx="3291840" cy="1115568"/>
          </a:xfrm>
          <a:prstGeom prst="rect">
            <a:avLst/>
          </a:prstGeom>
          <a:solidFill>
            <a:srgbClr val="F4F8FB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686800" y="2761488"/>
            <a:ext cx="137160" cy="11155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87968" y="28254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H=1 Peaks (4,587 s/s)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887968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H allows faster mode adaptation when conditions change. On stable nets, it still holds the right mode, so no overhead penalty.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86800" y="4059936"/>
            <a:ext cx="3291840" cy="1115568"/>
          </a:xfrm>
          <a:prstGeom prst="rect">
            <a:avLst/>
          </a:prstGeom>
          <a:solidFill>
            <a:srgbClr val="F4F8FB"/>
          </a:solidFill>
          <a:ln w="2540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8686800" y="4059936"/>
            <a:ext cx="137160" cy="11155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887968" y="41239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H=12 Degrades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887968" y="449884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H slows adaptation. Throughput falls to 3,279 s/s — controller misses transient congestion windows.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5358384"/>
            <a:ext cx="3291840" cy="1115568"/>
          </a:xfrm>
          <a:prstGeom prst="rect">
            <a:avLst/>
          </a:prstGeom>
          <a:solidFill>
            <a:srgbClr val="F4F8FB"/>
          </a:solidFill>
          <a:ln w="2540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0" y="5358384"/>
            <a:ext cx="137160" cy="111556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887968" y="542239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Threshold Insensitive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887968" y="5797296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network: threshold had low impact since no switches triggered. Under congestion (Exp 4), threshold selection becomes critical.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AHA Performance Summary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164592" cy="2377440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5272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+4.5%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85800" y="240487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PS (N=8, stable)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114300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297680" y="1143000"/>
            <a:ext cx="164592" cy="2377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125272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+81.8%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26280" y="240487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PS (N=32) ★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E8A838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164592" cy="23774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125272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A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−7.5%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8366760" y="240487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fault vs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fault-free (AHA)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64592" cy="2377440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385876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−72.9%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85800" y="501091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 throughput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under fault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297680" y="374904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97680" y="3749040"/>
            <a:ext cx="164592" cy="2377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26280" y="385876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 = 1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4526280" y="501091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H on stable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(throughput)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138160" y="3749040"/>
            <a:ext cx="3566160" cy="2377440"/>
          </a:xfrm>
          <a:prstGeom prst="rect">
            <a:avLst/>
          </a:prstGeom>
          <a:solidFill>
            <a:srgbClr val="F4F8FB"/>
          </a:solidFill>
          <a:ln w="19050">
            <a:solidFill>
              <a:srgbClr val="7EC8E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38160" y="3749040"/>
            <a:ext cx="164592" cy="2377440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366760" y="3858768"/>
            <a:ext cx="3246120" cy="1236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7EC8E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 osc.</a:t>
            </a:r>
            <a:endParaRPr lang="en-US" sz="5600" dirty="0"/>
          </a:p>
        </p:txBody>
      </p:sp>
      <p:sp>
        <p:nvSpPr>
          <p:cNvPr id="27" name="Text 25"/>
          <p:cNvSpPr/>
          <p:nvPr/>
        </p:nvSpPr>
        <p:spPr>
          <a:xfrm>
            <a:off x="8366760" y="5010912"/>
            <a:ext cx="32461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oscillations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(stable, H≥1)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6400800"/>
            <a:ext cx="11247120" cy="347472"/>
          </a:xfrm>
          <a:prstGeom prst="rect">
            <a:avLst/>
          </a:prstGeom>
          <a:solidFill>
            <a:srgbClr val="2A9D2A">
              <a:alpha val="7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Status: ≥15% target met at N=32 (congested and scale scenarios) with +81.8%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C-6 Novelty Justification: What Is New?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124712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698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 (Horovod · BytePS · Bagua) proposes hybrid policies conceptually but does not deliver a reproducible, telemetry-driven runtime controller with bounded-staleness consistency guards.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37160" cy="1261872"/>
          </a:xfrm>
          <a:prstGeom prst="rect">
            <a:avLst/>
          </a:prstGeom>
          <a:solidFill>
            <a:srgbClr val="2A9D2A"/>
          </a:solidFill>
          <a:ln w="12700">
            <a:solidFill>
              <a:srgbClr val="2A9D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9D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1 — Adaptive Runtime Policy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hysteresis decision loop evaluates every 10 steps using live telemetry. No prior reproducible system delivers this as a tunable primitive.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137160" cy="12618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2 — Bounded-Staleness Mode Switching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" y="379476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switch enforces a BSP barrier + checkpoint. τ-BSP filtering ensures no gradient older than τ iterations crosses a mode boundary, preserving convergence.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61872"/>
          </a:xfrm>
          <a:prstGeom prst="rect">
            <a:avLst/>
          </a:prstGeom>
          <a:solidFill>
            <a:srgbClr val="FFFFFF"/>
          </a:solidFill>
          <a:ln w="25400">
            <a:solidFill>
              <a:srgbClr val="D640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37160" cy="1261872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47548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640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Novel 3 — Cross-Condition Benchmark Suite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5212080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controlled benchmark of PS · RA · hybrid across 5 scenarios (stable · congested · packet-loss · straggler · crash) under identical model/optimizer/seed.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57200" y="6172200"/>
            <a:ext cx="11247120" cy="566928"/>
          </a:xfrm>
          <a:prstGeom prst="rect">
            <a:avLst/>
          </a:prstGeom>
          <a:solidFill>
            <a:srgbClr val="C8DFF2">
              <a:alpha val="70000"/>
            </a:srgbClr>
          </a:solidFill>
          <a:ln w="12700">
            <a:solidFill>
              <a:srgbClr val="C8D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6217920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Trade-offs: </a:t>
            </a:r>
            <a:r>
              <a:rPr lang="en-US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too low → rapid switches add overhead.  H too high → slow adaptation to faults.  τ too tight → throughput loss from rejected updates.  All characterised in Exp 5.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 &amp; Future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50976"/>
            <a:ext cx="1124712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303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8992" y="117043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win: </a:t>
            </a:r>
            <a:r>
              <a:rPr lang="en-US" sz="1600" dirty="0">
                <a:solidFill>
                  <a:srgbClr val="D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AHA reaches 8,319 samples/sec at N=32 — +81.8% over Fixed PS. Adaptive switching exploits RA's balanced bandwidth at high worker count.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5303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resilience: </a:t>
            </a:r>
            <a:r>
              <a:rPr lang="en-US" sz="1600" dirty="0">
                <a:solidFill>
                  <a:srgbClr val="D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straggler + crash, AHA retains 92.5% of fault-free throughput. Fixed RA collapses to 27.1%.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303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31012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318211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oscillation: </a:t>
            </a:r>
            <a:r>
              <a:rPr lang="en-US" sz="1600" dirty="0">
                <a:solidFill>
                  <a:srgbClr val="D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stable network, the hysteresis controller correctly held its mode for all 100 steps — zero spurious switches.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5303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31596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418795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verdict: </a:t>
            </a:r>
            <a:r>
              <a:rPr lang="en-US" sz="1600" dirty="0">
                <a:solidFill>
                  <a:srgbClr val="D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 on N=8 stable; ≥15% target met at scale (N=32) and under congestion. Partially achieved on the specific N=8 stable test case.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530352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5321808"/>
            <a:ext cx="5303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23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519379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</a:t>
            </a:r>
            <a:r>
              <a:rPr lang="en-US" sz="1600" dirty="0">
                <a:solidFill>
                  <a:srgbClr val="D0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experiments run with fixed seeds. Code, results CSV, and plot scripts delivered with this presentation.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5212080" cy="5074920"/>
          </a:xfrm>
          <a:prstGeom prst="rect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49440" y="120700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49440" y="1783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PS resharding (currently fixed at deploy time)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49440" y="24963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Non-uniform topology: fat-tree, mesh interconnects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32095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controller replacing threshold policy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49440" y="392277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compression (DGC) inside the AHA pipeline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49440" y="46360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NCCL/gRPC deployment on GPU cluster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49440" y="5349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600" dirty="0">
                <a:solidFill>
                  <a:srgbClr val="C8D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extension for heterogeneous hardware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50F1A"/>
          </a:solidFill>
          <a:ln w="12700">
            <a:solidFill>
              <a:srgbClr val="050F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0" y="6547104"/>
            <a:ext cx="12188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 ·  Questions?  ·  All code and results are available for review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1508</Words>
  <Application>Microsoft Office PowerPoint</Application>
  <PresentationFormat>Widescreen</PresentationFormat>
  <Paragraphs>226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 — Distributed SGD Final Defense</dc:title>
  <dc:subject>Parallel and Distributed Computing — Deliverable 3</dc:subject>
  <dc:creator>Abdul Moiz · Aytesam Suhail · Hassan Aamir</dc:creator>
  <cp:lastModifiedBy>Hassan Aamir</cp:lastModifiedBy>
  <cp:revision>2</cp:revision>
  <dcterms:created xsi:type="dcterms:W3CDTF">2026-05-07T15:59:58Z</dcterms:created>
  <dcterms:modified xsi:type="dcterms:W3CDTF">2026-05-07T16:26:46Z</dcterms:modified>
</cp:coreProperties>
</file>